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7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 i="0">
                <a:solidFill>
                  <a:srgbClr val="9FC3C1"/>
                </a:solidFill>
                <a:latin typeface="Calibri"/>
              </a:rPr>
              <a:t>MAHARAJA AGRASEN INSTITUTE OF TECHNOLOGY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9FC3C1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74519"/>
            <a:ext cx="100584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Evolution and Unified Performance Evaluation of Clustering Techniques in Heterogeneous Wireless Sensor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069080"/>
            <a:ext cx="1371600" cy="45720"/>
          </a:xfrm>
          <a:prstGeom prst="rect">
            <a:avLst/>
          </a:prstGeom>
          <a:solidFill>
            <a:srgbClr val="0F7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9FC3C1"/>
                </a:solidFill>
                <a:latin typeface="Calibri"/>
              </a:rPr>
              <a:t>Presented by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Vansh Tomar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Satvik Rastogi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Ansh Rai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43484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9FC3C1"/>
                </a:solidFill>
                <a:latin typeface="Calibri"/>
              </a:rPr>
              <a:t>Under the guidance of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Ashish Sharma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Yogesh Sharma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B9C4D2"/>
                </a:solidFill>
                <a:latin typeface="Calibri"/>
              </a:rPr>
              <a:t>Assistant Professors, Dept. of 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89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9FC3C1"/>
                </a:solidFill>
                <a:latin typeface="Calibri"/>
              </a:rPr>
              <a:t>Minor Project  |  Second Defense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1051560" cy="50292"/>
          </a:xfrm>
          <a:prstGeom prst="rect">
            <a:avLst/>
          </a:prstGeom>
          <a:solidFill>
            <a:srgbClr val="0F7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773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B335F"/>
                </a:solidFill>
                <a:latin typeface="Calibri"/>
              </a:rPr>
              <a:t>The comparison everyone makes does not actually 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26364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6B73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8800"/>
            <a:ext cx="65836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600">
                <a:solidFill>
                  <a:srgbClr val="0F7773"/>
                </a:solidFill>
                <a:latin typeface="Calibri"/>
              </a:rPr>
              <a:t>▪  </a:t>
            </a:r>
            <a:r>
              <a:rPr sz="1600" b="1">
                <a:solidFill>
                  <a:srgbClr val="1B335F"/>
                </a:solidFill>
                <a:latin typeface="Calibri"/>
              </a:rPr>
              <a:t>Twenty-five years of protocols, three generations. </a:t>
            </a:r>
            <a:r>
              <a:rPr sz="1600">
                <a:solidFill>
                  <a:srgbClr val="2B2B2B"/>
                </a:solidFill>
                <a:latin typeface="Calibri"/>
              </a:rPr>
              <a:t>Heuristics, then explicit optimization, then learned selection.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600">
                <a:solidFill>
                  <a:srgbClr val="0F7773"/>
                </a:solidFill>
                <a:latin typeface="Calibri"/>
              </a:rPr>
              <a:t>▪  </a:t>
            </a:r>
            <a:r>
              <a:rPr sz="1600" b="1">
                <a:solidFill>
                  <a:srgbClr val="1B335F"/>
                </a:solidFill>
                <a:latin typeface="Calibri"/>
              </a:rPr>
              <a:t>Each was measured on its own simulator. </a:t>
            </a:r>
            <a:r>
              <a:rPr sz="1600">
                <a:solidFill>
                  <a:srgbClr val="2B2B2B"/>
                </a:solidFill>
                <a:latin typeface="Calibri"/>
              </a:rPr>
              <a:t>Field size, node count, packet length, energy budget and channel all differ between papers.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600">
                <a:solidFill>
                  <a:srgbClr val="0F7773"/>
                </a:solidFill>
                <a:latin typeface="Calibri"/>
              </a:rPr>
              <a:t>▪  </a:t>
            </a:r>
            <a:r>
              <a:rPr sz="1600" b="1">
                <a:solidFill>
                  <a:srgbClr val="1B335F"/>
                </a:solidFill>
                <a:latin typeface="Calibri"/>
              </a:rPr>
              <a:t>Almost always against LEACH alone, </a:t>
            </a:r>
            <a:r>
              <a:rPr sz="1600">
                <a:solidFill>
                  <a:srgbClr val="2B2B2B"/>
                </a:solidFill>
                <a:latin typeface="Calibri"/>
              </a:rPr>
              <a:t>and almost always on a channel with no packet loss.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600">
                <a:solidFill>
                  <a:srgbClr val="0F7773"/>
                </a:solidFill>
                <a:latin typeface="Calibri"/>
              </a:rPr>
              <a:t>▪  </a:t>
            </a:r>
            <a:r>
              <a:rPr sz="1600" b="1">
                <a:solidFill>
                  <a:srgbClr val="1B335F"/>
                </a:solidFill>
                <a:latin typeface="Calibri"/>
              </a:rPr>
              <a:t>The assumptions that decide the winner go unstated. </a:t>
            </a:r>
            <a:r>
              <a:rPr sz="1600">
                <a:solidFill>
                  <a:srgbClr val="2B2B2B"/>
                </a:solidFill>
                <a:latin typeface="Calibri"/>
              </a:rPr>
              <a:t>Whether a centralized protocol pays for its uplink is worth a quarter of the entire energy budget.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600">
                <a:solidFill>
                  <a:srgbClr val="0F7773"/>
                </a:solidFill>
                <a:latin typeface="Calibri"/>
              </a:rPr>
              <a:t>▪  </a:t>
            </a:r>
            <a:r>
              <a:rPr sz="1600" b="1">
                <a:solidFill>
                  <a:srgbClr val="1B335F"/>
                </a:solidFill>
                <a:latin typeface="Calibri"/>
              </a:rPr>
              <a:t>Which death point you report can reverse a ranking, </a:t>
            </a:r>
            <a:r>
              <a:rPr sz="1600">
                <a:solidFill>
                  <a:srgbClr val="2B2B2B"/>
                </a:solidFill>
                <a:latin typeface="Calibri"/>
              </a:rPr>
              <a:t>and the author picks which one to publish.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1828800"/>
            <a:ext cx="4160520" cy="2880360"/>
          </a:xfrm>
          <a:prstGeom prst="rect">
            <a:avLst/>
          </a:prstGeom>
          <a:solidFill>
            <a:srgbClr val="F4F6F8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2103120"/>
            <a:ext cx="36118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1" i="0">
                <a:solidFill>
                  <a:srgbClr val="0F7773"/>
                </a:solidFill>
                <a:latin typeface="Calibri"/>
              </a:rPr>
              <a:t>So the question we ask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When a paper reports a margin over LEACH, is that evidence about the algorithm, or evidence about the harness it was measured in?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A83A1E"/>
                </a:solidFill>
                <a:latin typeface="Calibri"/>
              </a:rPr>
              <a:t>Right now there is no way to tell them apart.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71500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B335F"/>
                </a:solidFill>
                <a:latin typeface="Calibri"/>
              </a:rPr>
              <a:t>Aim:  build one benchmark in which all three generations run under provably identical physical conditions, with every modeling choice disclosed.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1051560" cy="50292"/>
          </a:xfrm>
          <a:prstGeom prst="rect">
            <a:avLst/>
          </a:prstGeom>
          <a:solidFill>
            <a:srgbClr val="0F7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773"/>
                </a:solidFill>
                <a:latin typeface="Calibri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B335F"/>
                </a:solidFill>
                <a:latin typeface="Calibri"/>
              </a:rPr>
              <a:t>What we built and what it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26364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6B73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10642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600">
                <a:solidFill>
                  <a:srgbClr val="0F7773"/>
                </a:solidFill>
                <a:latin typeface="Calibri"/>
              </a:rPr>
              <a:t>▪  </a:t>
            </a:r>
            <a:r>
              <a:rPr sz="1600" b="1">
                <a:solidFill>
                  <a:srgbClr val="1B335F"/>
                </a:solidFill>
                <a:latin typeface="Calibri"/>
              </a:rPr>
              <a:t>Nine clustering protocols plus a no-clustering baseline </a:t>
            </a:r>
            <a:r>
              <a:rPr sz="1600">
                <a:solidFill>
                  <a:srgbClr val="2B2B2B"/>
                </a:solidFill>
                <a:latin typeface="Calibri"/>
              </a:rPr>
              <a:t>run on a single engine that owns energy accounting, packet sizing, fusion, the channel and the counting of delivered readings. A protocol returns only a cluster structure.</a:t>
            </a: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600">
                <a:solidFill>
                  <a:srgbClr val="0F7773"/>
                </a:solidFill>
                <a:latin typeface="Calibri"/>
              </a:rPr>
              <a:t>▪  </a:t>
            </a:r>
            <a:r>
              <a:rPr sz="1600" b="1">
                <a:solidFill>
                  <a:srgbClr val="1B335F"/>
                </a:solidFill>
                <a:latin typeface="Calibri"/>
              </a:rPr>
              <a:t>Trials are paired. </a:t>
            </a:r>
            <a:r>
              <a:rPr sz="1600">
                <a:solidFill>
                  <a:srgbClr val="2B2B2B"/>
                </a:solidFill>
                <a:latin typeface="Calibri"/>
              </a:rPr>
              <a:t>At a given run index every protocol sees the same topology, the same per-link shadowing and the same sensor readings, so differences are tested with sign-flip permutation, paired bootstrap intervals and Holm correction.</a:t>
            </a: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600">
                <a:solidFill>
                  <a:srgbClr val="0F7773"/>
                </a:solidFill>
                <a:latin typeface="Calibri"/>
              </a:rPr>
              <a:t>▪  </a:t>
            </a:r>
            <a:r>
              <a:rPr sz="1600" b="1">
                <a:solidFill>
                  <a:srgbClr val="1B335F"/>
                </a:solidFill>
                <a:latin typeface="Calibri"/>
              </a:rPr>
              <a:t>1,950 runs in total: </a:t>
            </a:r>
            <a:r>
              <a:rPr sz="1600">
                <a:solidFill>
                  <a:srgbClr val="2B2B2B"/>
                </a:solidFill>
                <a:latin typeface="Calibri"/>
              </a:rPr>
              <a:t>600 across two channel configurations, and 1,350 across a grid of three node counts by three field areas.</a:t>
            </a: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600">
                <a:solidFill>
                  <a:srgbClr val="0F7773"/>
                </a:solidFill>
                <a:latin typeface="Calibri"/>
              </a:rPr>
              <a:t>▪  </a:t>
            </a:r>
            <a:r>
              <a:rPr sz="1600" b="1">
                <a:solidFill>
                  <a:srgbClr val="1B335F"/>
                </a:solidFill>
                <a:latin typeface="Calibri"/>
              </a:rPr>
              <a:t>Bracketing transmit power retracts one of our own comparisons. </a:t>
            </a:r>
            <a:r>
              <a:rPr sz="1600">
                <a:solidFill>
                  <a:srgbClr val="2B2B2B"/>
                </a:solidFill>
                <a:latin typeface="Calibri"/>
              </a:rPr>
              <a:t>The fuzzy and deep Q-network advantage over LEACH is +417 and +426 rounds with packet loss, and falls to +17 and +22 rounds, no longer significant, once loss is removed.</a:t>
            </a: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600">
                <a:solidFill>
                  <a:srgbClr val="0F7773"/>
                </a:solidFill>
                <a:latin typeface="Calibri"/>
              </a:rPr>
              <a:t>▪  </a:t>
            </a:r>
            <a:r>
              <a:rPr sz="1600" b="1">
                <a:solidFill>
                  <a:srgbClr val="1B335F"/>
                </a:solidFill>
                <a:latin typeface="Calibri"/>
              </a:rPr>
              <a:t>The scale sweep finds the same boundary from the other side. </a:t>
            </a:r>
            <a:r>
              <a:rPr sz="1600">
                <a:solidFill>
                  <a:srgbClr val="2B2B2B"/>
                </a:solidFill>
                <a:latin typeface="Calibri"/>
              </a:rPr>
              <a:t>Distance to the sink sets the regime, not node density, and in a 50 x 50 m field clustering is worse than no clustering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1051560" cy="50292"/>
          </a:xfrm>
          <a:prstGeom prst="rect">
            <a:avLst/>
          </a:prstGeom>
          <a:solidFill>
            <a:srgbClr val="0F7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773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B335F"/>
                </a:solidFill>
                <a:latin typeface="Calibri"/>
              </a:rPr>
              <a:t>Scope, motivation and the hard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26364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6B73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3529584" cy="45720"/>
          </a:xfrm>
          <a:prstGeom prst="rect">
            <a:avLst/>
          </a:prstGeom>
          <a:solidFill>
            <a:srgbClr val="0F7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35295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0F7773"/>
                </a:solidFill>
                <a:latin typeface="Calibri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4600"/>
            <a:ext cx="352958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400">
                <a:solidFill>
                  <a:srgbClr val="0F7773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10 configurations, 3 generations, 1 engine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400">
                <a:solidFill>
                  <a:srgbClr val="0F7773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100 nodes in 100 x 100 m, sink at (50, 150)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400">
                <a:solidFill>
                  <a:srgbClr val="0F7773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Two channels: with and without packet loss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400">
                <a:solidFill>
                  <a:srgbClr val="0F7773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Nine deployment scales, 50 to 150 m fields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400">
                <a:solidFill>
                  <a:srgbClr val="0F7773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Homogeneous, static nodes; failure by energy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83080"/>
            <a:ext cx="3529584" cy="45720"/>
          </a:xfrm>
          <a:prstGeom prst="rect">
            <a:avLst/>
          </a:prstGeom>
          <a:solidFill>
            <a:srgbClr val="1B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2011680"/>
            <a:ext cx="35295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B335F"/>
                </a:solidFill>
                <a:latin typeface="Calibri"/>
              </a:rPr>
              <a:t>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514600"/>
            <a:ext cx="352958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400">
                <a:solidFill>
                  <a:srgbClr val="1B335F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A designer choosing a protocol today cannot get a straight answer out of the literature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400">
                <a:solidFill>
                  <a:srgbClr val="1B335F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Reported gains are entangled with the harness that produced them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400">
                <a:solidFill>
                  <a:srgbClr val="1B335F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Learned protocols are arriving fast, with no common yardstick against the heuristics they claim to beat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9871" y="1783080"/>
            <a:ext cx="3529584" cy="45720"/>
          </a:xfrm>
          <a:prstGeom prst="rect">
            <a:avLst/>
          </a:prstGeom>
          <a:solidFill>
            <a:srgbClr val="A83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9871" y="2011680"/>
            <a:ext cx="35295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A83A1E"/>
                </a:solidFill>
                <a:latin typeface="Calibri"/>
              </a:rPr>
              <a:t>CHALLENGES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1" y="2514600"/>
            <a:ext cx="352958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400">
                <a:solidFill>
                  <a:srgbClr val="A83A1E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Fairness has to be structural, not promised in prose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400">
                <a:solidFill>
                  <a:srgbClr val="A83A1E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Topology variance is larger than the differences between protocols, so unpaired tests waste their power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400">
                <a:solidFill>
                  <a:srgbClr val="A83A1E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Unspecified parameters, transmit power above all, can decide the ranking outright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400">
                <a:solidFill>
                  <a:srgbClr val="A83A1E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Accounting choices are worth more than the algorithms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9893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666B73"/>
                </a:solidFill>
                <a:latin typeface="Calibri"/>
              </a:rPr>
              <a:t>Standing rule: no protocol is tuned to reproduce a published number. Disagreement with the source tables is expected, not an error.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1051560" cy="50292"/>
          </a:xfrm>
          <a:prstGeom prst="rect">
            <a:avLst/>
          </a:prstGeom>
          <a:solidFill>
            <a:srgbClr val="0F7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773"/>
                </a:solidFill>
                <a:latin typeface="Calibri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B335F"/>
                </a:solidFill>
                <a:latin typeface="Calibri"/>
              </a:rPr>
              <a:t>Three generations of answers to one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26364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6B73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83080"/>
          <a:ext cx="7406640" cy="288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Gen.</a:t>
                      </a:r>
                    </a:p>
                  </a:txBody>
                  <a:tcPr marL="64008" marT="18288" marB="18288">
                    <a:solidFill>
                      <a:srgbClr val="1B33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Protocol</a:t>
                      </a:r>
                    </a:p>
                  </a:txBody>
                  <a:tcPr marL="64008" marT="18288" marB="18288">
                    <a:solidFill>
                      <a:srgbClr val="1B33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How it picks the cluster head</a:t>
                      </a:r>
                    </a:p>
                  </a:txBody>
                  <a:tcPr marL="64008" marT="18288" marB="18288">
                    <a:solidFill>
                      <a:srgbClr val="1B33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Ref.</a:t>
                      </a:r>
                    </a:p>
                  </a:txBody>
                  <a:tcPr marL="64008" marT="18288" marB="18288">
                    <a:solidFill>
                      <a:srgbClr val="1B33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G1</a:t>
                      </a:r>
                    </a:p>
                  </a:txBody>
                  <a:tcPr marL="64008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LEACH</a:t>
                      </a:r>
                    </a:p>
                  </a:txBody>
                  <a:tcPr marL="64008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Probabilistic threshold with an epoch constraint</a:t>
                      </a:r>
                    </a:p>
                  </a:txBody>
                  <a:tcPr marL="64008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Heinzelman 2000</a:t>
                      </a:r>
                    </a:p>
                  </a:txBody>
                  <a:tcPr marL="64008" marT="18288" marB="18288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G1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PEGASIS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No clusters; greedy nearest-neighbor chain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Lindsey 2002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G1</a:t>
                      </a:r>
                    </a:p>
                  </a:txBody>
                  <a:tcPr marL="64008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TEEN / APTEEN</a:t>
                      </a:r>
                    </a:p>
                  </a:txBody>
                  <a:tcPr marL="64008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LEACH clustering; suppress by sensed-value threshold</a:t>
                      </a:r>
                    </a:p>
                  </a:txBody>
                  <a:tcPr marL="64008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Manjeshwar 2001, 2002</a:t>
                      </a:r>
                    </a:p>
                  </a:txBody>
                  <a:tcPr marL="64008" marT="18288" marB="18288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G2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NSGA-II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Multi-objective search, three objectives, knee point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Deb 2002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G2</a:t>
                      </a:r>
                    </a:p>
                  </a:txBody>
                  <a:tcPr marL="64008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Type-2 Fuzzy</a:t>
                      </a:r>
                    </a:p>
                  </a:txBody>
                  <a:tcPr marL="64008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27-rule interval type-2 base, Karnik-Mendel reduction</a:t>
                      </a:r>
                    </a:p>
                  </a:txBody>
                  <a:tcPr marL="64008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Mendel 2002</a:t>
                      </a:r>
                    </a:p>
                  </a:txBody>
                  <a:tcPr marL="64008" marT="18288" marB="18288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G3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SOM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Kohonen map over position and residual energy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Kohonen 1990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G3</a:t>
                      </a:r>
                    </a:p>
                  </a:txBody>
                  <a:tcPr marL="64008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DQN</a:t>
                      </a:r>
                    </a:p>
                  </a:txBody>
                  <a:tcPr marL="64008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Learned Q-value ranking, temporal credit assignment</a:t>
                      </a:r>
                    </a:p>
                  </a:txBody>
                  <a:tcPr marL="64008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Mnih 2015</a:t>
                      </a:r>
                    </a:p>
                  </a:txBody>
                  <a:tcPr marL="64008" marT="18288" marB="18288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G3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GCN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Learned graph scoring over a 6-NN graph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Kipf 2017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174736" y="1783080"/>
            <a:ext cx="3456432" cy="3026664"/>
          </a:xfrm>
          <a:prstGeom prst="rect">
            <a:avLst/>
          </a:prstGeom>
          <a:solidFill>
            <a:srgbClr val="F4F6F8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48472" y="1975104"/>
            <a:ext cx="3182112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1" i="0" dirty="0">
                <a:solidFill>
                  <a:srgbClr val="A83A1E"/>
                </a:solidFill>
                <a:latin typeface="Calibri"/>
              </a:rPr>
              <a:t>THE GAP WE FOUND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 i="0" dirty="0">
                <a:solidFill>
                  <a:srgbClr val="2B2B2B"/>
                </a:solidFill>
                <a:latin typeface="Calibri"/>
              </a:rPr>
              <a:t>The comparability problem is itself a documented finding in network simulation.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 i="0" dirty="0">
                <a:solidFill>
                  <a:srgbClr val="2B2B2B"/>
                </a:solidFill>
                <a:latin typeface="Calibri"/>
              </a:rPr>
              <a:t>Kurkowski (2005) and Pawlikowski (2002) show that most published simulation studies cannot be reproduced or compared.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 dirty="0">
                <a:solidFill>
                  <a:srgbClr val="A83A1E"/>
                </a:solidFill>
                <a:latin typeface="Calibri"/>
              </a:rPr>
              <a:t>Nobody has applied that lesson to clustering protocols across all three generations. That is our gap.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2064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1B335F"/>
                </a:solidFill>
                <a:latin typeface="Calibri"/>
              </a:rPr>
              <a:t>What none of them share: a common simulator, a common channel model, a common energy budget, or a stated position on who pays for control traffic. Every one of those four decides the ranking.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1051560" cy="50292"/>
          </a:xfrm>
          <a:prstGeom prst="rect">
            <a:avLst/>
          </a:prstGeom>
          <a:solidFill>
            <a:srgbClr val="0F7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773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B335F"/>
                </a:solidFill>
                <a:latin typeface="Calibri"/>
              </a:rPr>
              <a:t>Deliberately small, and that is the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26364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6B73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3529584" cy="2148840"/>
          </a:xfrm>
          <a:prstGeom prst="rect">
            <a:avLst/>
          </a:prstGeom>
          <a:solidFill>
            <a:srgbClr val="F4F6F8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783080"/>
            <a:ext cx="3529584" cy="45720"/>
          </a:xfrm>
          <a:prstGeom prst="rect">
            <a:avLst/>
          </a:prstGeom>
          <a:solidFill>
            <a:srgbClr val="0F7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773"/>
                </a:solidFill>
                <a:latin typeface="Calibri"/>
              </a:rPr>
              <a:t>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0F7773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Python 3.11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0F7773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NumPy for every numerical path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0F7773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pandas for aggregation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0F7773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Matplotlib for all figures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83080"/>
            <a:ext cx="3529584" cy="2148840"/>
          </a:xfrm>
          <a:prstGeom prst="rect">
            <a:avLst/>
          </a:prstGeom>
          <a:solidFill>
            <a:srgbClr val="F4F6F8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3529584" cy="45720"/>
          </a:xfrm>
          <a:prstGeom prst="rect">
            <a:avLst/>
          </a:prstGeom>
          <a:solidFill>
            <a:srgbClr val="1B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20116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B335F"/>
                </a:solidFill>
                <a:latin typeface="Calibri"/>
              </a:rPr>
              <a:t>SCALE AND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95728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1B335F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multiprocessing, 14 to 16 workers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1B335F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pytest, plus 18 static audit checks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1B335F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Deterministic seeding by keyed hash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1" y="1783080"/>
            <a:ext cx="3529584" cy="2148840"/>
          </a:xfrm>
          <a:prstGeom prst="rect">
            <a:avLst/>
          </a:prstGeom>
          <a:solidFill>
            <a:srgbClr val="F4F6F8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19871" y="1783080"/>
            <a:ext cx="3529584" cy="45720"/>
          </a:xfrm>
          <a:prstGeom prst="rect">
            <a:avLst/>
          </a:prstGeom>
          <a:solidFill>
            <a:srgbClr val="A83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5903" y="20116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A83A1E"/>
                </a:solidFill>
                <a:latin typeface="Calibri"/>
              </a:rPr>
              <a:t>WRITING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3" y="2395728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A83A1E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LaTeX with IEEEtran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A83A1E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Tables generated from CSVs, never typed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A83A1E"/>
                </a:solidFill>
                <a:latin typeface="Calibri"/>
              </a:rPr>
              <a:t>▪  </a:t>
            </a:r>
            <a:r>
              <a:rPr sz="1400">
                <a:solidFill>
                  <a:srgbClr val="2B2B2B"/>
                </a:solidFill>
                <a:latin typeface="Calibri"/>
              </a:rPr>
              <a:t>Git for the full history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160520"/>
            <a:ext cx="11064240" cy="1965960"/>
          </a:xfrm>
          <a:prstGeom prst="rect">
            <a:avLst/>
          </a:prstGeom>
          <a:solidFill>
            <a:srgbClr val="FBF3EE"/>
          </a:solidFill>
          <a:ln w="9525">
            <a:solidFill>
              <a:srgbClr val="E6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1033272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1" i="0">
                <a:solidFill>
                  <a:srgbClr val="A83A1E"/>
                </a:solidFill>
                <a:latin typeface="Calibri"/>
              </a:rPr>
              <a:t>WHAT WE LEFT OUT ON PURPOSE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No PyTorch, no TensorFlow, no SciPy. The backpropagation for both the deep Q-network and the graph network is hand-written NumPy, verified against central finite differences.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Per-round setup time is one of our reported metrics. If one protocol ran on an optimized C++ backend and another on plain Python, that column would measure the framework, not the algorithm.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1051560" cy="50292"/>
          </a:xfrm>
          <a:prstGeom prst="rect">
            <a:avLst/>
          </a:prstGeom>
          <a:solidFill>
            <a:srgbClr val="0F7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773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B335F"/>
                </a:solidFill>
                <a:latin typeface="Calibri"/>
              </a:rPr>
              <a:t>Fairness is enforced by the code, not promised in the write-up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26364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6B73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37360"/>
            <a:ext cx="5349240" cy="1874519"/>
          </a:xfrm>
          <a:prstGeom prst="rect">
            <a:avLst/>
          </a:prstGeom>
          <a:solidFill>
            <a:srgbClr val="EFF5F5"/>
          </a:solidFill>
          <a:ln w="9525">
            <a:solidFill>
              <a:srgbClr val="C3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1" i="0">
                <a:solidFill>
                  <a:srgbClr val="0F7773"/>
                </a:solidFill>
                <a:latin typeface="Calibri"/>
              </a:rPr>
              <a:t>THE ENGINE OWNS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Energy, through one charging function  •  packet sizing  •  the fusion charge  •  the channel and its ARQ retries  •  TDMA slots and latency  •  counting delivered readings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1928" y="1737360"/>
            <a:ext cx="5349240" cy="1874519"/>
          </a:xfrm>
          <a:prstGeom prst="rect">
            <a:avLst/>
          </a:prstGeom>
          <a:solidFill>
            <a:srgbClr val="F4F6F8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1" i="0">
                <a:solidFill>
                  <a:srgbClr val="1B335F"/>
                </a:solidFill>
                <a:latin typeface="Calibri"/>
              </a:rPr>
              <a:t>A PROTOCOL RETURNS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A set of cluster head identities, and a membership map.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A83A1E"/>
                </a:solidFill>
                <a:latin typeface="Calibri"/>
              </a:rPr>
              <a:t>Nothing else. It cannot touch energy or liveness.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40480"/>
            <a:ext cx="110642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>
                <a:solidFill>
                  <a:srgbClr val="0F7773"/>
                </a:solidFill>
                <a:latin typeface="Calibri"/>
              </a:rPr>
              <a:t>▪  </a:t>
            </a:r>
            <a:r>
              <a:rPr sz="1500" b="1">
                <a:solidFill>
                  <a:srgbClr val="1B335F"/>
                </a:solidFill>
                <a:latin typeface="Calibri"/>
              </a:rPr>
              <a:t>Paired seeding. </a:t>
            </a:r>
            <a:r>
              <a:rPr sz="1500">
                <a:solidFill>
                  <a:srgbClr val="2B2B2B"/>
                </a:solidFill>
                <a:latin typeface="Calibri"/>
              </a:rPr>
              <a:t>Run index i generates the positions, the initial energies, the per-link shadowing matrix and the full sensor stream. That order depends only on i, never on which protocol is running.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>
                <a:solidFill>
                  <a:srgbClr val="0F7773"/>
                </a:solidFill>
                <a:latin typeface="Calibri"/>
              </a:rPr>
              <a:t>▪  </a:t>
            </a:r>
            <a:r>
              <a:rPr sz="1500" b="1">
                <a:solidFill>
                  <a:srgbClr val="1B335F"/>
                </a:solidFill>
                <a:latin typeface="Calibri"/>
              </a:rPr>
              <a:t>A static audit, 18 checks. </a:t>
            </a:r>
            <a:r>
              <a:rPr sz="1500">
                <a:solidFill>
                  <a:srgbClr val="2B2B2B"/>
                </a:solidFill>
                <a:latin typeface="Calibri"/>
              </a:rPr>
              <a:t>Confirms no protocol implementation writes to the energy or liveness arrays, calls the charging function, or picks its own packet sizes.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>
                <a:solidFill>
                  <a:srgbClr val="0F7773"/>
                </a:solidFill>
                <a:latin typeface="Calibri"/>
              </a:rPr>
              <a:t>▪  </a:t>
            </a:r>
            <a:r>
              <a:rPr sz="1500" b="1">
                <a:solidFill>
                  <a:srgbClr val="1B335F"/>
                </a:solidFill>
                <a:latin typeface="Calibri"/>
              </a:rPr>
              <a:t>Three invariants the engine will not let a protocol break. </a:t>
            </a:r>
            <a:r>
              <a:rPr sz="1500">
                <a:solidFill>
                  <a:srgbClr val="2B2B2B"/>
                </a:solidFill>
                <a:latin typeface="Calibri"/>
              </a:rPr>
              <a:t>Transmissions execute in hop-depth order, a fusing node emits at most one packet, and the engine counts delivered readings itself rather than letting a protocol declare its own.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>
                <a:solidFill>
                  <a:srgbClr val="0F7773"/>
                </a:solidFill>
                <a:latin typeface="Calibri"/>
              </a:rPr>
              <a:t>▪  </a:t>
            </a:r>
            <a:r>
              <a:rPr sz="1500" b="1">
                <a:solidFill>
                  <a:srgbClr val="1B335F"/>
                </a:solidFill>
                <a:latin typeface="Calibri"/>
              </a:rPr>
              <a:t>Conservation, asserted every run. </a:t>
            </a:r>
            <a:r>
              <a:rPr sz="1500">
                <a:solidFill>
                  <a:srgbClr val="2B2B2B"/>
                </a:solidFill>
                <a:latin typeface="Calibri"/>
              </a:rPr>
              <a:t>Energy in equals energy out to 1e-9 J. That single assertion is the primary correctness check on the whole simulator.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1051560" cy="50292"/>
          </a:xfrm>
          <a:prstGeom prst="rect">
            <a:avLst/>
          </a:prstGeom>
          <a:solidFill>
            <a:srgbClr val="0F7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773"/>
                </a:solidFill>
                <a:latin typeface="Calibri"/>
              </a:rPr>
              <a:t>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B335F"/>
                </a:solidFill>
                <a:latin typeface="Calibri"/>
              </a:rPr>
              <a:t>The simulator runs end to end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26364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6B73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54864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>
                <a:solidFill>
                  <a:srgbClr val="0F7773"/>
                </a:solidFill>
                <a:latin typeface="Calibri"/>
              </a:rPr>
              <a:t>▪  </a:t>
            </a:r>
            <a:r>
              <a:rPr sz="1500" b="1">
                <a:solidFill>
                  <a:srgbClr val="1B335F"/>
                </a:solidFill>
                <a:latin typeface="Calibri"/>
              </a:rPr>
              <a:t>All 10 configurations implemented </a:t>
            </a:r>
            <a:r>
              <a:rPr sz="1500">
                <a:solidFill>
                  <a:srgbClr val="2B2B2B"/>
                </a:solidFill>
                <a:latin typeface="Calibri"/>
              </a:rPr>
              <a:t>and passing verification.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>
                <a:solidFill>
                  <a:srgbClr val="0F7773"/>
                </a:solidFill>
                <a:latin typeface="Calibri"/>
              </a:rPr>
              <a:t>▪  </a:t>
            </a:r>
            <a:r>
              <a:rPr sz="1500" b="1">
                <a:solidFill>
                  <a:srgbClr val="1B335F"/>
                </a:solidFill>
                <a:latin typeface="Calibri"/>
              </a:rPr>
              <a:t>1,950 runs complete. </a:t>
            </a:r>
            <a:r>
              <a:rPr sz="1500">
                <a:solidFill>
                  <a:srgbClr val="2B2B2B"/>
                </a:solidFill>
                <a:latin typeface="Calibri"/>
              </a:rPr>
              <a:t>600 for the headline channel pair in 80 minutes on 16 cores, 1,350 for the scale grid in 222 minutes on 14.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>
                <a:solidFill>
                  <a:srgbClr val="0F7773"/>
                </a:solidFill>
                <a:latin typeface="Calibri"/>
              </a:rPr>
              <a:t>▪  </a:t>
            </a:r>
            <a:r>
              <a:rPr sz="1500" b="1">
                <a:solidFill>
                  <a:srgbClr val="1B335F"/>
                </a:solidFill>
                <a:latin typeface="Calibri"/>
              </a:rPr>
              <a:t>Seven verification gates, all green. </a:t>
            </a:r>
            <a:r>
              <a:rPr sz="1500">
                <a:solidFill>
                  <a:srgbClr val="2B2B2B"/>
                </a:solidFill>
                <a:latin typeface="Calibri"/>
              </a:rPr>
              <a:t>Energy conservation, hand-checked radio energies either side of the crossover, an invariant suite, determinism, the static audit, an independent recomputation, and the packet-error curve.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>
                <a:solidFill>
                  <a:srgbClr val="0F7773"/>
                </a:solidFill>
                <a:latin typeface="Calibri"/>
              </a:rPr>
              <a:t>▪  </a:t>
            </a:r>
            <a:r>
              <a:rPr sz="1500" b="1">
                <a:solidFill>
                  <a:srgbClr val="1B335F"/>
                </a:solidFill>
                <a:latin typeface="Calibri"/>
              </a:rPr>
              <a:t>Reproducible exactly. </a:t>
            </a:r>
            <a:r>
              <a:rPr sz="1500">
                <a:solidFill>
                  <a:srgbClr val="2B2B2B"/>
                </a:solidFill>
                <a:latin typeface="Calibri"/>
              </a:rPr>
              <a:t>Three repeats per seed diff to zero on every per-round field for all nine protocols.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>
                <a:solidFill>
                  <a:srgbClr val="0F7773"/>
                </a:solidFill>
                <a:latin typeface="Calibri"/>
              </a:rPr>
              <a:t>▪  </a:t>
            </a:r>
            <a:r>
              <a:rPr sz="1500" b="1">
                <a:solidFill>
                  <a:srgbClr val="1B335F"/>
                </a:solidFill>
                <a:latin typeface="Calibri"/>
              </a:rPr>
              <a:t>Outputs. </a:t>
            </a:r>
            <a:r>
              <a:rPr sz="1500">
                <a:solidFill>
                  <a:srgbClr val="2B2B2B"/>
                </a:solidFill>
                <a:latin typeface="Calibri"/>
              </a:rPr>
              <a:t>Per-round CSVs for every run, 14 figures, and every LaTeX table in the paper generated straight from those CSVs rather than typed by hand.</a:t>
            </a:r>
          </a:p>
        </p:txBody>
      </p:sp>
      <p:pic>
        <p:nvPicPr>
          <p:cNvPr id="7" name="Picture 6" descr="fig1_alive_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77390"/>
            <a:ext cx="5303520" cy="33146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553212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66B73"/>
                </a:solidFill>
                <a:latin typeface="Calibri"/>
              </a:rPr>
              <a:t>Living nodes against round, lossy channel, averaged over 30 paired trials. The baseline and the clustered protocols cross, which is why we report four lifetime measures rather than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1051560" cy="50292"/>
          </a:xfrm>
          <a:prstGeom prst="rect">
            <a:avLst/>
          </a:prstGeom>
          <a:solidFill>
            <a:srgbClr val="0F7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773"/>
                </a:solidFill>
                <a:latin typeface="Calibri"/>
              </a:rPr>
              <a:t>RESULTS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B335F"/>
                </a:solidFill>
                <a:latin typeface="Calibri"/>
              </a:rPr>
              <a:t>Four findings, and one of them retracts our own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26364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6B73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64465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500">
                <a:solidFill>
                  <a:srgbClr val="0F7773"/>
                </a:solidFill>
                <a:latin typeface="Calibri"/>
              </a:rPr>
              <a:t>▪  </a:t>
            </a:r>
            <a:r>
              <a:rPr sz="1500" b="1">
                <a:solidFill>
                  <a:srgbClr val="1B335F"/>
                </a:solidFill>
                <a:latin typeface="Calibri"/>
              </a:rPr>
              <a:t>Clustering redistributes lifetime, it does not extend it. </a:t>
            </a:r>
            <a:r>
              <a:rPr sz="1500">
                <a:solidFill>
                  <a:srgbClr val="2B2B2B"/>
                </a:solidFill>
                <a:latin typeface="Calibri"/>
              </a:rPr>
              <a:t>LEACH reaches first node death at 1,046 rounds against the baseline's 114, a factor of 9.2. But its last node dies at 2,191 against the baseline's 3,202.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500">
                <a:solidFill>
                  <a:srgbClr val="0F7773"/>
                </a:solidFill>
                <a:latin typeface="Calibri"/>
              </a:rPr>
              <a:t>▪  </a:t>
            </a:r>
            <a:r>
              <a:rPr sz="1500" b="1">
                <a:solidFill>
                  <a:srgbClr val="1B335F"/>
                </a:solidFill>
                <a:latin typeface="Calibri"/>
              </a:rPr>
              <a:t>We retract one of our own comparisons. </a:t>
            </a:r>
            <a:r>
              <a:rPr sz="1500">
                <a:solidFill>
                  <a:srgbClr val="2B2B2B"/>
                </a:solidFill>
                <a:latin typeface="Calibri"/>
              </a:rPr>
              <a:t>The fuzzy system and the deep Q-network beat LEACH by 417 and 426 rounds under packet loss. Remove the loss and the same comparisons give 17 and 22 rounds, no longer significant.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500">
                <a:solidFill>
                  <a:srgbClr val="0F7773"/>
                </a:solidFill>
                <a:latin typeface="Calibri"/>
              </a:rPr>
              <a:t>▪  </a:t>
            </a:r>
            <a:r>
              <a:rPr sz="1500" b="1">
                <a:solidFill>
                  <a:srgbClr val="1B335F"/>
                </a:solidFill>
                <a:latin typeface="Calibri"/>
              </a:rPr>
              <a:t>The cause is the tail, not the average. </a:t>
            </a:r>
            <a:r>
              <a:rPr sz="1500">
                <a:solidFill>
                  <a:srgbClr val="2B2B2B"/>
                </a:solidFill>
                <a:latin typeface="Calibri"/>
              </a:rPr>
              <a:t>Packet error is near zero below 120 m and every protocol's mean head distance sits below that. LEACH puts 29.9% of its head-rounds beyond 120 m and spends 6.39% of its budget retransmitting; the Q-network puts 5.1% out there and spends 2.31%.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500">
                <a:solidFill>
                  <a:srgbClr val="0F7773"/>
                </a:solidFill>
                <a:latin typeface="Calibri"/>
              </a:rPr>
              <a:t>▪  </a:t>
            </a:r>
            <a:r>
              <a:rPr sz="1500" b="1">
                <a:solidFill>
                  <a:srgbClr val="1B335F"/>
                </a:solidFill>
                <a:latin typeface="Calibri"/>
              </a:rPr>
              <a:t>It is a regime, not a rule. </a:t>
            </a:r>
            <a:r>
              <a:rPr sz="1500">
                <a:solidFill>
                  <a:srgbClr val="2B2B2B"/>
                </a:solidFill>
                <a:latin typeface="Calibri"/>
              </a:rPr>
              <a:t>In a 50 x 50 m field, where no link reaches the error waterfall, the no-clustering baseline outlives LEACH.</a:t>
            </a:r>
          </a:p>
        </p:txBody>
      </p:sp>
      <p:pic>
        <p:nvPicPr>
          <p:cNvPr id="7" name="Picture 6" descr="figF_head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898967"/>
            <a:ext cx="4389120" cy="31057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69480" y="512064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66B73"/>
                </a:solidFill>
                <a:latin typeface="Calibri"/>
              </a:rPr>
              <a:t>Head-to-sink distance per protocol, drawn over the packet-error curve. Every mean sits in the flat region; only the tails reach the waterfall.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5715000"/>
            <a:ext cx="4389120" cy="658368"/>
          </a:xfrm>
          <a:prstGeom prst="rect">
            <a:avLst/>
          </a:prstGeom>
          <a:solidFill>
            <a:srgbClr val="FBF3EE"/>
          </a:solidFill>
          <a:ln w="9525">
            <a:solidFill>
              <a:srgbClr val="E6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79" y="5870448"/>
            <a:ext cx="39776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A83A1E"/>
                </a:solidFill>
                <a:latin typeface="Calibri"/>
              </a:rPr>
              <a:t>Across the six single-hop protocols, tail share predicts retry energy at r = 0.95.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75488"/>
            <a:ext cx="1051560" cy="50292"/>
          </a:xfrm>
          <a:prstGeom prst="rect">
            <a:avLst/>
          </a:prstGeom>
          <a:solidFill>
            <a:srgbClr val="0F7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B335F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26364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66B73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91640"/>
            <a:ext cx="5349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[1] W. R. Heinzelman, A. Chandrakasan and H. Balakrishnan, “Energy-Efficient Communication Protocol for Wireless Microsensor Networks,” Proc. HICSS, 2000.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[2] S. Lindsey and C. S. Raghavendra, “PEGASIS: Power-Efficient Gathering in Sensor Information Systems,” Proc. IEEE Aerospace Conf., 2002.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[3] A. Manjeshwar and D. P. Agrawal, “TEEN: A Routing Protocol for Enhanced Efficiency in Wireless Sensor Networks,” Proc. IPDPS Workshops, 2001.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[4] K. Deb, A. Pratap, S. Agarwal and T. Meyarivan, “A Fast and Elitist Multiobjective Genetic Algorithm: NSGA-II,” IEEE Trans. Evol. Comput., vol. 6, no. 2, 2002.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[5] J. M. Mendel and R. I. B. John, “Type-2 Fuzzy Sets Made Simple,” IEEE Trans. Fuzzy Syst., vol. 10, no. 2, 2002.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[6] T. Kohonen, “The Self-Organizing Map,” Proc. IEEE, vol. 78, no. 9, 1990.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1928" y="1691640"/>
            <a:ext cx="5349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[7] V. Mnih et al., “Human-Level Control Through Deep Reinforcement Learning,” Nature, vol. 518, 2015.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[8] T. N. Kipf and M. Welling, “Semi-Supervised Classification with Graph Convolutional Networks,” Proc. ICLR, 2017.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[9] S. Kurkowski, T. Camp and M. Colagrosso, “MANET Simulation Studies: The Incredibles,” ACM SIGMOBILE MC2R, vol. 9, no. 4, 2005.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[10] K. Pawlikowski, H.-D. J. Jeong and J.-S. R. Lee, “On Credibility of Simulation Studies of Telecommunication Networks,” IEEE Commun. Mag., vol. 40, no. 1, 2002.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[11] T. S. Rappaport, Wireless Communications: Principles and Practice, 2nd ed. Prentice Hall, 2002.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[12] S. Holm, “A Simple Sequentially Rejective Multiple Test Procedure,” Scand. J. Statist., vol. 6, no. 2, 1979.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577840"/>
            <a:ext cx="11064240" cy="548640"/>
          </a:xfrm>
          <a:prstGeom prst="rect">
            <a:avLst/>
          </a:prstGeom>
          <a:solidFill>
            <a:srgbClr val="F4F6F8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724144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1">
                <a:solidFill>
                  <a:srgbClr val="666B73"/>
                </a:solidFill>
                <a:latin typeface="Calibri"/>
              </a:rPr>
              <a:t>The manuscript cites 47 references in full. Configuration constants, per-round outputs and verification artifacts are released with the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2036</Words>
  <Application>Microsoft Office PowerPoint</Application>
  <PresentationFormat>Widescreen</PresentationFormat>
  <Paragraphs>159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Satvik Rastogi</cp:lastModifiedBy>
  <cp:revision>2</cp:revision>
  <dcterms:created xsi:type="dcterms:W3CDTF">2013-01-27T09:14:16Z</dcterms:created>
  <dcterms:modified xsi:type="dcterms:W3CDTF">2026-09-09T14:11:25Z</dcterms:modified>
  <cp:category/>
</cp:coreProperties>
</file>